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16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F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26679" y="0"/>
            <a:ext cx="73152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SOFTWARE TESTING &amp; DESIGN  · 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7040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7040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58A6FF"/>
                </a:solidFill>
              </a:rPr>
              <a:t>Calcure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015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9939E"/>
                </a:solidFill>
              </a:rPr>
              <a:t>Terminal Calendar &amp; Task Manager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69080"/>
            <a:ext cx="3200400" cy="36576"/>
          </a:xfrm>
          <a:prstGeom prst="rect">
            <a:avLst/>
          </a:prstGeom>
          <a:solidFill>
            <a:srgbClr val="484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Yash Salunke  ·  Harshal Gajjar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451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</a:rPr>
              <a:t>github.com/Yashcoder2802/calcure-testing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457200"/>
            <a:ext cx="4114800" cy="132588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457200"/>
            <a:ext cx="73152" cy="13258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548640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3FB950"/>
                </a:solidFill>
              </a:rPr>
              <a:t>324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280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Total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938528"/>
            <a:ext cx="4114800" cy="132588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09560" y="1938528"/>
            <a:ext cx="73152" cy="13258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2440" y="2029968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58A6FF"/>
                </a:solidFill>
              </a:rPr>
              <a:t>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61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Branch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3419856"/>
            <a:ext cx="4114800" cy="132588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09560" y="3419856"/>
            <a:ext cx="73152" cy="132588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92440" y="3511296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3B341"/>
                </a:solidFill>
              </a:rPr>
              <a:t>81.6%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2428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Mutation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4901184"/>
            <a:ext cx="4114800" cy="132588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09560" y="4901184"/>
            <a:ext cx="73152" cy="13258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4992624"/>
            <a:ext cx="3200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85149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7241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Bugs Found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What we'll cover — in report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61872"/>
            <a:ext cx="73152" cy="1536192"/>
          </a:xfrm>
          <a:prstGeom prst="rect">
            <a:avLst/>
          </a:prstGeom>
          <a:solidFill>
            <a:srgbClr val="899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37160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89939E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Subject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28800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What Calcure is, why we chose it, code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261872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261872"/>
            <a:ext cx="73152" cy="153619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37160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58A6FF"/>
                </a:solidFill>
              </a:rPr>
              <a:t>2.1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3716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Blackbox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828800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EP · BA · EG · CT — 117 tests · 2 bugs found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26080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73152" cy="153619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303580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FB950"/>
                </a:solidFill>
              </a:rPr>
              <a:t>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035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Whitebox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4930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Unit + Integration · 107 tests · 89% branch coverage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26080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2926080"/>
            <a:ext cx="73152" cy="1536192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035808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3B341"/>
                </a:solidFill>
              </a:rPr>
              <a:t>2.3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0358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Mutation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4930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mutmut · 81.6% kill rate · 73 precision tests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590288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4590288"/>
            <a:ext cx="73152" cy="153619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8" y="4700016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BC8CFF"/>
                </a:solidFill>
              </a:rPr>
              <a:t>2.4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7000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CLI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157216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Alternate testing · subprocess + PTY · 27 tests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590288"/>
            <a:ext cx="5669280" cy="1536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590288"/>
            <a:ext cx="73152" cy="1536192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4700016"/>
            <a:ext cx="685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rgbClr val="89939E"/>
                </a:solidFill>
              </a:rPr>
              <a:t>3.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7000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Results &amp; Lessons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157216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Before/after ·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99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899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Subject Application — Calcure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Why we chose it and 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899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2852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Why We Chose Calcure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7575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783080"/>
            <a:ext cx="4828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Almost no existing tests (~67 lines in 2 files)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64231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2459736"/>
            <a:ext cx="4828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Well-organized: separate modules per feature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40887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3136392"/>
            <a:ext cx="4828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Great edge cases: leap years, rollovers, 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17543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" y="3813048"/>
            <a:ext cx="4828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Domain everyone understands (calendar/tasks)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94199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4489704"/>
            <a:ext cx="482803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Simple to set up — pip install, one command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234440"/>
            <a:ext cx="5897880" cy="52852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13533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Code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828800"/>
            <a:ext cx="5806440" cy="58521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9385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Total Python LOC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19385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~5,784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450592"/>
            <a:ext cx="5806440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2560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Core logic LOC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5603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~5,689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3072384"/>
            <a:ext cx="5806440" cy="58521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31821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Number of modules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1821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694176"/>
            <a:ext cx="5806440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38039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Number of functions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80390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~213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4315968"/>
            <a:ext cx="5806440" cy="58521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44256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Pre-existing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42569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 files, ~67 lines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4937760"/>
            <a:ext cx="5806440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50474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Language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50474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5559552"/>
            <a:ext cx="5806440" cy="58521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0" y="56692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License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6692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773168"/>
            <a:ext cx="5394960" cy="17465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Typical Users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430621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4088" y="5257800"/>
            <a:ext cx="4828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Developers &amp; power users who prefer terminal 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814669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4088" y="5641848"/>
            <a:ext cx="4828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Users who want lightweight alternatives to Google/Apple Calendar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198717"/>
            <a:ext cx="9144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4088" y="6025896"/>
            <a:ext cx="4828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Linux / macOS users comfortable with keyboard-only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914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</a:rPr>
              <a:t>2.1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Blackbox
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3832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9939E"/>
                </a:solidFill>
              </a:rPr>
              <a:t>EP · BA · EG · CT
117 tests · 2 bugs found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Blackbox Testing —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Source code not seen — only README &amp; docs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4632" y="1362456"/>
            <a:ext cx="640080" cy="31089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6245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Equivalence Partitioning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7465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Divide inputs into groups; one test per group.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" y="2167128"/>
            <a:ext cx="530352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21945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Expected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242316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" y="2459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Task name: 1–999 chars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5973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Valid — accepted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274320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27797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Task name: 0 or 1000+ chars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7797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Invalid — rejected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306324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" y="30998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Priority 1–3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0998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Valid — accepted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338328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34198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Priority 0 or 4+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4198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Invalid — rejected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234440"/>
            <a:ext cx="566928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73952" y="1362456"/>
            <a:ext cx="640080" cy="31089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36245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Boundary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17465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Test values at the exact edge of each group.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2" y="2167128"/>
            <a:ext cx="530352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21945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1945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Expected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73952" y="242316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5392" y="24597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Name length = 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45973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Valid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3952" y="274320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5392" y="27797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Name length = 1000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277977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Invalid 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73952" y="306324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65392" y="30998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Priority = 1 (min)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30998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Valid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73952" y="338328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65392" y="34198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Priority = 3 (max)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4198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Valid 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931920"/>
            <a:ext cx="566928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84632" y="4059936"/>
            <a:ext cx="640080" cy="310896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0599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Error Guessing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" y="44439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Use intuition to guess where bugs hide.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" y="4864608"/>
            <a:ext cx="530352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6072" y="4892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Input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0440" y="4892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Expected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" y="512064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6072" y="51572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Name = "   " (spaces)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0440" y="51572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</a:rPr>
              <a:t>Should reject → BUG!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632" y="544068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72" y="54772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CSV year = 'abc'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20440" y="54772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5149"/>
                </a:solidFill>
              </a:rPr>
              <a:t>Should skip → BUG!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" y="576072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76072" y="57972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Delete non-existent 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0440" y="579729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Safe, unchanged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632" y="608076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6072" y="61173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Toggle status twice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0440" y="611733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Reverts to NORMAL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3931920"/>
            <a:ext cx="5669280" cy="2560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473952" y="4059936"/>
            <a:ext cx="640080" cy="310896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69480" y="40599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Combinatorial Testing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3952" y="44439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Pairwise: all 2-way input combinations.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73952" y="4864608"/>
            <a:ext cx="530352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565392" y="48920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Input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48920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Expected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73952" y="512064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65392" y="515721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frequency × repetition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515721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8 combos tested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73952" y="544068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565392" y="547725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status × privacy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09760" y="547725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4 combos tested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73952" y="5760720"/>
            <a:ext cx="5303520" cy="30175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565392" y="57972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firstweekday × month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09760" y="579729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24 combos tested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73952" y="6080760"/>
            <a:ext cx="5303520" cy="30175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565392" y="611733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deadline × status × privacy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09760" y="611733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2 combos tested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Blackbox Results &amp; Bugs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115/117 pass · 2 tests intentionally fail — revealing real 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52852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Test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55648"/>
            <a:ext cx="5577840" cy="274320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7739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7393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7739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773936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48256"/>
            <a:ext cx="5577840" cy="40233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11226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TestTaskManagement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11226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11226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BA 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11226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⚠ 1 FAIL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68880"/>
            <a:ext cx="5577840" cy="4023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253288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TestEventManagement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53288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53288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BA 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53288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89504"/>
            <a:ext cx="5577840" cy="40233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9535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TestTimerBehavior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295351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295351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95351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10128"/>
            <a:ext cx="5577840" cy="4023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337413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TestCollectionBehavior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337413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337413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BA EG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3741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30752"/>
            <a:ext cx="5577840" cy="40233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379476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TestFilteringBehavior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379476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379476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EG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379476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151376"/>
            <a:ext cx="5577840" cy="4023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421538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TestCalendarBehavior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2153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421538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BA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421538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572000"/>
            <a:ext cx="5577840" cy="40233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463600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TestRepeatedEventsBehavior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4636008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39" y="463600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463600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92624"/>
            <a:ext cx="5577840" cy="4023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80" y="5056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TestDataPersistence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5056632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39" y="505663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EG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00600" y="5056632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5149"/>
                </a:solidFill>
              </a:rPr>
              <a:t>⚠ 1 FAIL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13248"/>
            <a:ext cx="5577840" cy="402336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1480" y="5477256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TestICSImportBehavior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5477256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49039" y="547725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EP EG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0600" y="547725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833872"/>
            <a:ext cx="5577840" cy="40233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1480" y="589788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TestCombinatorialTesting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60320" y="58978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49039" y="58978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0600" y="5897880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FB950"/>
                </a:solidFill>
              </a:rPr>
              <a:t>✓ 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254496"/>
            <a:ext cx="5577840" cy="402336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1480" y="6318504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60320" y="631850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117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49039" y="631850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800600" y="631850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115/117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1234440"/>
            <a:ext cx="5715000" cy="24688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172200" y="1234440"/>
            <a:ext cx="73152" cy="246888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00800" y="1353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</a:rPr>
              <a:t>Bug #1 — Whitespace Name Accepted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1737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Guard: len(name) &gt; 0
len("   ") == 3 → passes ✗
Fix: len(name.strip()) &gt; 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2487168"/>
            <a:ext cx="5303520" cy="685800"/>
          </a:xfrm>
          <a:prstGeom prst="rect">
            <a:avLst/>
          </a:prstGeom>
          <a:solidFill>
            <a:srgbClr val="0A0E14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50">
                <a:solidFill>
                  <a:srgbClr val="C9D1D9"/>
                </a:solidFill>
              </a:rPr>
              <a:t>self.tasks.add_item(make_task(name="   "))
self.assertEqual(len(tasks.items), 0)  # FAILS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32461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Severity: Medium — invisible tasks stored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2200" y="3840480"/>
            <a:ext cx="5715000" cy="26791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172200" y="3840480"/>
            <a:ext cx="73152" cy="267919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400800" y="3959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5149"/>
                </a:solidFill>
              </a:rPr>
              <a:t>Bug #2 — CSV Crash on Bad Year Field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0" y="4352544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int(row[1]) raises ValueError
if year = "not-a-year" in CSV
Fix: wrap in try/except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0" y="5102352"/>
            <a:ext cx="5303520" cy="685800"/>
          </a:xfrm>
          <a:prstGeom prst="rect">
            <a:avLst/>
          </a:prstGeom>
          <a:solidFill>
            <a:srgbClr val="0A0E14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50">
                <a:solidFill>
                  <a:srgbClr val="C9D1D9"/>
                </a:solidFill>
              </a:rPr>
              <a:t>loaded = EventLoaderCSV(cf).load()
self.assertEqual(len(loaded.items), 0)  # FAILS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0" y="58704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9939E"/>
                </a:solidFill>
              </a:rPr>
              <a:t>Severity: High — app crashes on startup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914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</a:rPr>
              <a:t>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Whitebox
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3832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9939E"/>
                </a:solidFill>
              </a:rPr>
              <a:t>Unit + Integration
107 tests · 89% branch coverage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Whitebox — Unit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86 tests targeting specific branches in source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51615" cy="292608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25272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252728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Source 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252728"/>
            <a:ext cx="7223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What it verifies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36192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60020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TestTimerInternals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60020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60020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0020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Even/odd stamp parity, pair sum, format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75104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03911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TestCollectionInternals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03911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039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03911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999/1000 guard, \[ reject, max(ids)+1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14016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2478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TestSubtaskPrefixEncoding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478024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47802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L312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47802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'--' vs '----', insert(n+1), 100-char cap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52928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29169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TestCalendarInternals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291693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91693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calendars.py L78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91693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Leap year ÷4/÷100/÷400, grid padding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291840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3558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TestPersianCalendarInternals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355848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335584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calendars.py L200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335584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Jalali conversion, Persian week numbers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730752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37947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TestRepeatedEventsInternals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379476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37947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L360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379476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range(1,repetition), month/year overflow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169664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42336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TestCSVLoadingInternals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423367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42336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loaders.py L145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3367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Old/new format, dot-prefix, d/w/m/y codes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608576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5760" y="46725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TestAuxiliaryLoaderInternals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31720" y="4672584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467258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loaders.py L280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672584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BirthdayLoader early returns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047488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51114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TestICSLoaderInternals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5111496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0" y="511149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loaders.py L201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5111496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RRULE/EXDATE, missing-field fallbacks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486400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65760" y="55504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TestFilterInternals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31720" y="5550408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17520" y="555040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calendars.py L310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550408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Stable sort, year check vs no year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5925312"/>
            <a:ext cx="11551615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5760" y="598932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TestMoveTaskInternals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331720" y="5989320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17520" y="598932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L401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598932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pop+insert, post-pop index shift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6364224"/>
            <a:ext cx="11551615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65760" y="64282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C8CFF"/>
                </a:solidFill>
              </a:rPr>
              <a:t>TestPauseAllOtherTimersInternals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31720" y="6428232"/>
            <a:ext cx="6583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7520" y="64282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data.py L450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0" y="6428232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is_counting guard, ID exemption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Whitebox — Integration Tests &amp;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21 pipeline tests + branch coverage with coverage.py --branch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Integration Test Pipelines  (21 tests)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557784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783080"/>
            <a:ext cx="502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8308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Checks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29968"/>
            <a:ext cx="5577840" cy="374904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084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Events → RepeatedEvents →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08483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848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Recurring events visible on correct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32304"/>
            <a:ext cx="5577840" cy="37490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4871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Tasks → Save → Load → Modify → 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4871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487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Full persistence 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34640"/>
            <a:ext cx="5577840" cy="374904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28895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Events → Save → Load → RepeatedEvents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88950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889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Frequency survives CSV round-trip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36976"/>
            <a:ext cx="5577840" cy="37490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3291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Tasks + Timer full lifecycle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32918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29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start/pause/resume/reset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9312"/>
            <a:ext cx="5577840" cy="374904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369417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Calendar + Filter consistency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39" y="36941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6941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Grid dimensions match filter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41648"/>
            <a:ext cx="5577840" cy="374904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40965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ICS import → domain objects → filter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409651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0965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VTODO/VEVENT through real .ics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63440"/>
            <a:ext cx="5669280" cy="1856231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47731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Run Coverage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120640"/>
            <a:ext cx="5486400" cy="123444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50">
                <a:solidFill>
                  <a:srgbClr val="C9D1D9"/>
                </a:solidFill>
              </a:rPr>
              <a:t>coverage run --branch -m pytest \
  tests/blackbox/ tests/whitebox/ tests/integration/ -q
coverage report -m calcure/data.py calcure/calendars.py ...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1234440"/>
            <a:ext cx="5715000" cy="52852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13533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Branch Coverage Results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18745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calendars.py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187451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97%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2258567"/>
            <a:ext cx="5303520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55080" y="2258567"/>
            <a:ext cx="5144414" cy="2743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55080" y="274319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98480" y="274319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</a:rPr>
              <a:t>94%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3127247"/>
            <a:ext cx="5303520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55080" y="3127247"/>
            <a:ext cx="4985308" cy="2743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361187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savers.py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361187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92%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80" y="3995927"/>
            <a:ext cx="5303520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55080" y="3995927"/>
            <a:ext cx="4879238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55080" y="448055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loaders.py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98480" y="448055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</a:rPr>
              <a:t>85%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4864607"/>
            <a:ext cx="5303520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355080" y="4864607"/>
            <a:ext cx="4507992" cy="27432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55080" y="53492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__init__.py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534923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</a:rPr>
              <a:t>78%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5733287"/>
            <a:ext cx="5303520" cy="27432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355080" y="5733287"/>
            <a:ext cx="4136745" cy="27432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172200" y="6108192"/>
            <a:ext cx="57150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55080" y="61813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9939E"/>
                </a:solidFill>
              </a:rPr>
              <a:t>Core Average: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1080" y="61447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</a:rPr>
              <a:t>89%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61813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(Goal was 80%+ ✓)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914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Mutation
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3832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89939E"/>
                </a:solidFill>
              </a:rPr>
              <a:t>mutmut</a:t>
            </a:r>
            <a:r>
              <a:rPr sz="1300" b="0" i="0" dirty="0">
                <a:solidFill>
                  <a:srgbClr val="89939E"/>
                </a:solidFill>
              </a:rPr>
              <a:t> v2.4.4
81.6% kill rate · 784 mutants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Mutation Testing — Scores &amp; Surviving Mutants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mutmut mutates data.py + calendars.py · target was 80%+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4320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7432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38988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8A6FF"/>
                </a:solidFill>
              </a:rPr>
              <a:t>784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939E"/>
                </a:solidFill>
              </a:rPr>
              <a:t>Total Mutants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34440"/>
            <a:ext cx="274320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234440"/>
            <a:ext cx="27432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38988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FB950"/>
                </a:solidFill>
              </a:rPr>
              <a:t>640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939E"/>
                </a:solidFill>
              </a:rPr>
              <a:t>Killed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274320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2743200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38988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85149"/>
                </a:solidFill>
              </a:rPr>
              <a:t>144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939E"/>
                </a:solidFill>
              </a:rPr>
              <a:t>Survived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234440"/>
            <a:ext cx="2743200" cy="1417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1234440"/>
            <a:ext cx="274320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0" y="1389888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3B341"/>
                </a:solidFill>
              </a:rPr>
              <a:t>81.6%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299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9939E"/>
                </a:solidFill>
              </a:rPr>
              <a:t>Kill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34640"/>
            <a:ext cx="5669280" cy="16916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944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</a:rPr>
              <a:t>Score by Module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19272"/>
            <a:ext cx="557784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3337560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3375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Locs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3375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Killed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337560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Survived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3375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Score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593592"/>
            <a:ext cx="5577840" cy="384048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calcure/data.py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657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178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3657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518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6576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</a:rPr>
              <a:t>134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</a:rPr>
              <a:t>79.4%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995928"/>
            <a:ext cx="5577840" cy="38404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40599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calcure/calendars.py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405993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 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05993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122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405993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</a:rPr>
              <a:t>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0599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3B341"/>
                </a:solidFill>
              </a:rPr>
              <a:t>92.4%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398264"/>
            <a:ext cx="5577840" cy="384048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1480" y="44622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44622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207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44622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</a:rPr>
              <a:t>640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46227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5149"/>
                </a:solidFill>
              </a:rPr>
              <a:t>144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462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81.6%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2834640"/>
            <a:ext cx="5715000" cy="368503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55080" y="29443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Why Did 144 Mutants Survive?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337560"/>
            <a:ext cx="562356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63640" y="3355848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Mutant 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335584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#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335584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Reason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3611880"/>
            <a:ext cx="5623560" cy="43891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63640" y="367588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Off-by-one arithmetic (+1/−1)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3675888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38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49840" y="36758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Assertions too loose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4087368"/>
            <a:ext cx="56235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63640" y="4151376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Comparison flips (&gt;= vs &gt;)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09760" y="4151376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31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4151376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Not on critical path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4562856"/>
            <a:ext cx="5623560" cy="43891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63640" y="4626864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String literal mutations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4626864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4626864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Not asserted in tests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5038344"/>
            <a:ext cx="56235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63640" y="5102352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Dead / unreachable code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09760" y="5102352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840" y="5102352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Cannot be killed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5513832"/>
            <a:ext cx="5623560" cy="438912"/>
          </a:xfrm>
          <a:prstGeom prst="rect">
            <a:avLst/>
          </a:prstGeom>
          <a:solidFill>
            <a:srgbClr val="1C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263640" y="5577840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Boolean negation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5577840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5577840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Equivalent mutant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5989320"/>
            <a:ext cx="5623560" cy="4389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263640" y="6053328"/>
            <a:ext cx="3154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09760" y="6053328"/>
            <a:ext cx="548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605332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939E"/>
                </a:solidFill>
              </a:rPr>
              <a:t>Various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Mutation Testing — 73 Precision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Each test designed to kill exactly one surviving mutant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41248"/>
            <a:ext cx="11548872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Every test is labeled with the exact mutant it kills  —  e.g. [DAT-L234] = data.py line 234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11551615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264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42646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Target Mutant 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4264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42646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What it 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45920"/>
            <a:ext cx="11551615" cy="27066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673352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TestDefaultFieldIdentity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673352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DAT-L48, DAT-L95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673352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673352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None→False/True default mutations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916582"/>
            <a:ext cx="11551615" cy="27066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944014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TestBooleanReturnIdentity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1944014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DAT-L126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1944014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944014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False-identity in collection methods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187244"/>
            <a:ext cx="11551615" cy="27066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214676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TestCollectionChangedInit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2214676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DAT-L130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214676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214676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.changed initialized to exactly False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457906"/>
            <a:ext cx="11551615" cy="27066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485338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TestTimerPassedTimeArithmetic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2485338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DAT-L234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2485338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2485338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Day-boundary arithmetic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728568"/>
            <a:ext cx="11551615" cy="27066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756000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TestNameLengthBoundaryPrecision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80" y="2756000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DAT-L89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2756000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756000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999/1000 char comparator precision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999230"/>
            <a:ext cx="11551615" cy="27066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026662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TestStatusTogglePrecision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3026662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DAT-L173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3026662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026662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Same-status revert logic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269892"/>
            <a:ext cx="11551615" cy="27066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3297324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TestGenerateIdPrecision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3297324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DAT-L112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0" y="3297324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3297324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max+1 arithmetic mutations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540554"/>
            <a:ext cx="11551615" cy="27066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3567986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TestSubtaskDashPrecision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7480" y="3567986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DAT-L312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3567986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3567986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'--' vs '----' comparisons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811216"/>
            <a:ext cx="11551615" cy="27066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838648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TestWeeklyRecurrenceFormula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97480" y="3838648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DAT-L360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35040" y="3838648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3838648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Weekly offset arithmetic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4081878"/>
            <a:ext cx="11551615" cy="27066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4109310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TestDailyRecurrenceFormula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97480" y="4109310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DAT-L380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35040" y="4109310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2280" y="4109310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Daily overflow boundary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4352540"/>
            <a:ext cx="11551615" cy="27066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4379972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TestFilterEventsYearPrecision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97480" y="4379972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CAL-L310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0" y="4379972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12280" y="4379972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Year-equality comparators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4623202"/>
            <a:ext cx="11551615" cy="27066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4650634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TestBirthdaysFilterPrecision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97480" y="4650634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CAL-L320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35040" y="4650634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12280" y="4650634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Month/day comparators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4893864"/>
            <a:ext cx="11551615" cy="27066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60" y="4921296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TestMonthlyRecurrenceFormula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97480" y="4921296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DAT-L400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35040" y="4921296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12280" y="4921296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Month-overflow arithmetic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5164526"/>
            <a:ext cx="11551615" cy="27066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5191958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TestCalendarLeapYearPrecision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97480" y="5191958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CAL-L78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5191958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12280" y="5191958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Leap-year formula comparators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5435188"/>
            <a:ext cx="11551615" cy="27066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5462620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TestRepeatedEventsEdgeCases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97480" y="5462620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DAT-L350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35040" y="5462620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12280" y="5462620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repetition≥1 guard, rrule branch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5705850"/>
            <a:ext cx="11551615" cy="27066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" y="5733282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TestItemExistsNotFound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97480" y="5733282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>DAT-L450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35040" y="5733282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12280" y="5733282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item_exists false-return identity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5976512"/>
            <a:ext cx="11551615" cy="270662"/>
          </a:xfrm>
          <a:prstGeom prst="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60" y="6003944"/>
            <a:ext cx="22860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C8CFF"/>
                </a:solidFill>
              </a:rPr>
              <a:t>TOTAL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697480" y="6003944"/>
            <a:ext cx="329184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9D3C3"/>
                </a:solidFill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35040" y="6003944"/>
            <a:ext cx="73152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3B341"/>
                </a:solidFill>
              </a:rPr>
              <a:t>73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12280" y="6003944"/>
            <a:ext cx="5257800" cy="27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9080" y="0"/>
            <a:ext cx="9144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0" b="1" i="0">
                <a:solidFill>
                  <a:srgbClr val="FFFFFF"/>
                </a:solidFill>
              </a:rPr>
              <a:t>2.4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CLI
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3832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9939E"/>
                </a:solidFill>
              </a:rPr>
              <a:t>Alternate Testing
27 tests · subprocess + PTY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Alternate Testing — CLI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Calcure needs a real TTY — two-tier strategy: subprocess (Tier 1) + pty module (Tier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41248"/>
            <a:ext cx="5669280" cy="1737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841248"/>
            <a:ext cx="566928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Tier 1 — No TTY  (subprocess)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167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Flags processed BEFORE curses starts — plain subprocess.run() is enough.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73936"/>
            <a:ext cx="126187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-v  (version)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1773936"/>
            <a:ext cx="126187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--folder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773936"/>
            <a:ext cx="126187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--config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773936"/>
            <a:ext cx="1261872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Unknown/invalid flags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841248"/>
            <a:ext cx="5715000" cy="17373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841248"/>
            <a:ext cx="5715000" cy="5486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9326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Tier 2 — PTY  (pty module)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3167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9939E"/>
                </a:solidFill>
              </a:rPr>
              <a:t>Flags inside main(stdscr) after curses starts — Python's pty provides real TTY.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773936"/>
            <a:ext cx="1554480" cy="27432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--task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773936"/>
            <a:ext cx="1554480" cy="27432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--event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1773936"/>
            <a:ext cx="1554480" cy="27432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integrity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43200"/>
            <a:ext cx="11548872" cy="3977639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163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C8CFF"/>
                </a:solidFill>
              </a:rPr>
              <a:t>Test Classes  (27 tests total)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45536"/>
            <a:ext cx="11475720" cy="256032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163824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16382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16382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163824"/>
            <a:ext cx="7909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9939E"/>
                </a:solidFill>
              </a:rPr>
              <a:t>Scenario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401568"/>
            <a:ext cx="1147572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46557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TestVersionFlag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346557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46557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Tier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3465576"/>
            <a:ext cx="7909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-v outputs version string, exits 0, creates no files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813048"/>
            <a:ext cx="1147572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87705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TestFolderFlag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387705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387705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Tier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877056"/>
            <a:ext cx="7909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--folder creates dir, routes CSVs, handles unwritable path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224528"/>
            <a:ext cx="1147572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28853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TestConfigFlag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428853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428853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Tier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4288536"/>
            <a:ext cx="7909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--config creates/reads config, handles corrupt config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636008"/>
            <a:ext cx="1147572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70001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TestTaskFlag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6040" y="470001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470001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Tier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4700016"/>
            <a:ext cx="7909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--task writes to CSV, empty name, no event side-effects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047488"/>
            <a:ext cx="1147572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11149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TestEventFlag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06040" y="511149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37560" y="511149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Tier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5111496"/>
            <a:ext cx="7909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--event writes CSV, malformed input, invalid dates stored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58968"/>
            <a:ext cx="1147572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52297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TestInvalidFlags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06040" y="552297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37560" y="552297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Tier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60520" y="5522976"/>
            <a:ext cx="7909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Unknown long/short flags, extra positional args don't crash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870448"/>
            <a:ext cx="11475720" cy="4114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93445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TestCombinedInvocations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06040" y="593445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93445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8A6FF"/>
                </a:solidFill>
              </a:rPr>
              <a:t>Tier 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60520" y="5934456"/>
            <a:ext cx="7909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No args, --privacy+--folder, -v+--folder combined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281928"/>
            <a:ext cx="11475720" cy="4114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34593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TestDataIntegrity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06040" y="6345936"/>
            <a:ext cx="685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37560" y="6345936"/>
            <a:ext cx="777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C8CFF"/>
                </a:solidFill>
              </a:rPr>
              <a:t>Tier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60520" y="6345936"/>
            <a:ext cx="7909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Bad flag doesn't corrupt data; atomic .bak write verified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Final Results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All numbers across all 4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6576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4475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FB950"/>
                </a:solidFill>
              </a:rPr>
              <a:t>324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76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Total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420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939E"/>
                </a:solidFill>
              </a:rPr>
              <a:t>4 suites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28016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79" y="1280160"/>
            <a:ext cx="36576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79" y="144475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58A6FF"/>
                </a:solidFill>
              </a:rPr>
              <a:t>89%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176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Branch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25420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939E"/>
                </a:solidFill>
              </a:rPr>
              <a:t>goal: 80%+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8" y="128016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18" y="1280160"/>
            <a:ext cx="3657600" cy="5486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18" y="144475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E3B341"/>
                </a:solidFill>
              </a:rPr>
              <a:t>81.6%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8" y="21762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Mutation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8" y="25420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939E"/>
                </a:solidFill>
              </a:rPr>
              <a:t>goal: 80%+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9184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291840"/>
            <a:ext cx="3657600" cy="54864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345643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85149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1879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Bugs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537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939E"/>
                </a:solidFill>
              </a:rPr>
              <a:t>real faults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329184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97679" y="3291840"/>
            <a:ext cx="3657600" cy="5486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79" y="345643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C8C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41879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Test Files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8" y="3291840"/>
            <a:ext cx="3657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75318" y="3291840"/>
            <a:ext cx="3657600" cy="54864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18" y="345643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9D3C3"/>
                </a:solidFill>
              </a:rPr>
              <a:t>5,784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8" y="41879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LOC Tested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8" y="45537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9939E"/>
                </a:solidFill>
              </a:rPr>
              <a:t>Python 3.9+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914400" cy="2926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12801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5029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9939E"/>
                </a:solidFill>
              </a:rPr>
              <a:t>What we built — aligned to each report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51615" cy="384048"/>
          </a:xfrm>
          <a:prstGeom prst="rect">
            <a:avLst/>
          </a:prstGeom>
          <a:solidFill>
            <a:srgbClr val="1A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9939E"/>
                </a:solidFill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2618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2618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26187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Delta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45920"/>
            <a:ext cx="11551615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75564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2.1 Blackbox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1907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7556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71907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117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75564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+117  (EP+BA+EG+CT)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67712"/>
            <a:ext cx="11551615" cy="585216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23774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2.2 Whitebox unit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34086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37744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34086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37744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+86   targeting specific branches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89504"/>
            <a:ext cx="11551615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299923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2.2 Integration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96265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9992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96265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99923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+21   pipeline tests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511296"/>
            <a:ext cx="11551615" cy="585216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362102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2.3 Mutation-targeted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5844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621024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5844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62102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+73   precision mutant killers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133088"/>
            <a:ext cx="11551615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424281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2.4 CLI tests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2428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2062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24281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+27   Tier1 + Tier2 PTY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754880"/>
            <a:ext cx="11551615" cy="585216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48646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Branch coverage (core)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82803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~0%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48646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482803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89%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486460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Exceeded 80% goal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376672"/>
            <a:ext cx="11551615" cy="585216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548640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Mutation score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44982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548640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544982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81.6%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54864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Exceeded 80% goal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998464"/>
            <a:ext cx="11551615" cy="585216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" y="610819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Real bugs found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607161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85149"/>
                </a:solidFill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610819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607161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610819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9939E"/>
                </a:solidFill>
              </a:rPr>
              <a:t>Both found via EG blackbox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128016"/>
            <a:ext cx="1280160" cy="292608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1280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Summary &amp;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658368"/>
            <a:ext cx="5669280" cy="58613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658368"/>
            <a:ext cx="73152" cy="5861304"/>
          </a:xfrm>
          <a:prstGeom prst="rect">
            <a:avLst/>
          </a:prstGeom>
          <a:solidFill>
            <a:srgbClr val="39D3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7498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D3C3"/>
                </a:solidFill>
              </a:rPr>
              <a:t>What We Accomplished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394960" cy="1115568"/>
          </a:xfrm>
          <a:prstGeom prst="rect">
            <a:avLst/>
          </a:prstGeom>
          <a:solidFill>
            <a:srgbClr val="1C232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73152" cy="111556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2.1  Blackbox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6420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117 tests — EP, BA, EG, CT
2 real bugs found via Error Guessing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50592"/>
            <a:ext cx="5394960" cy="1115568"/>
          </a:xfrm>
          <a:prstGeom prst="rect">
            <a:avLst/>
          </a:prstGeom>
          <a:solidFill>
            <a:srgbClr val="1C232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450592"/>
            <a:ext cx="73152" cy="11155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5420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2.2  Whitebox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260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86 unit + 21 integration tests
89% branch coverage (goal: 80%+)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12464"/>
            <a:ext cx="5394960" cy="1115568"/>
          </a:xfrm>
          <a:prstGeom prst="rect">
            <a:avLst/>
          </a:prstGeom>
          <a:solidFill>
            <a:srgbClr val="1C232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712464"/>
            <a:ext cx="73152" cy="111556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8039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</a:rPr>
              <a:t>2.3  Mutation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8795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73 precision tests written
81.6% kill rate (goal: 80%+)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74336"/>
            <a:ext cx="5394960" cy="1115568"/>
          </a:xfrm>
          <a:prstGeom prst="rect">
            <a:avLst/>
          </a:prstGeom>
          <a:solidFill>
            <a:srgbClr val="1C232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974336"/>
            <a:ext cx="73152" cy="111556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50657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2.4  CLI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44982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27 tests — Tier 1 subprocess
+ Tier 2 PTY for curses flags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658368"/>
            <a:ext cx="5715000" cy="58613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658368"/>
            <a:ext cx="73152" cy="586130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7498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Lessons Learned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188720"/>
            <a:ext cx="5440680" cy="1115568"/>
          </a:xfrm>
          <a:prstGeom prst="rect">
            <a:avLst/>
          </a:prstGeom>
          <a:solidFill>
            <a:srgbClr val="1C232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1188720"/>
            <a:ext cx="73152" cy="111556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8" y="1280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5149"/>
                </a:solidFill>
              </a:rPr>
              <a:t>EG finds real bugs that EP &amp; BA miss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1664208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Both faults were found by guessing bad inputs — not by systematic partitioning.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450592"/>
            <a:ext cx="5440680" cy="1115568"/>
          </a:xfrm>
          <a:prstGeom prst="rect">
            <a:avLst/>
          </a:prstGeom>
          <a:solidFill>
            <a:srgbClr val="1C232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2450592"/>
            <a:ext cx="73152" cy="11155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25420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Coverage ≠ 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926080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89% branch coverage still left 144 surviving mutants. Coverage shows execution, not verification.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712464"/>
            <a:ext cx="5440680" cy="1115568"/>
          </a:xfrm>
          <a:prstGeom prst="rect">
            <a:avLst/>
          </a:prstGeom>
          <a:solidFill>
            <a:srgbClr val="1C232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3712464"/>
            <a:ext cx="73152" cy="1115568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0528" y="380390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B341"/>
                </a:solidFill>
              </a:rPr>
              <a:t>Mutation score reveals weak assertions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4187952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Each surviving mutant pointed to a test that was too broad. Precision beats quantity.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4974336"/>
            <a:ext cx="5440680" cy="1115568"/>
          </a:xfrm>
          <a:prstGeom prst="rect">
            <a:avLst/>
          </a:prstGeom>
          <a:solidFill>
            <a:srgbClr val="1C232C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09360" y="4974336"/>
            <a:ext cx="73152" cy="1115568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10528" y="50657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C8CFF"/>
                </a:solidFill>
              </a:rPr>
              <a:t>TUI apps need PTY — subprocess alone is not enough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5449824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9939E"/>
                </a:solidFill>
              </a:rPr>
              <a:t>Without pty, 40% of CLI flags (--task, --event) would be completely untestable.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1A222E"/>
                </a:solidFill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" y="1325880"/>
            <a:ext cx="121916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8A6FF"/>
                </a:solidFill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43400"/>
            <a:ext cx="12191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9939E"/>
                </a:solidFill>
              </a:rPr>
              <a:t>Yash Salunke  ·  Harshal Gajjar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349240"/>
            <a:ext cx="2194560" cy="42062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2.1 Blackbox — 117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5349240"/>
            <a:ext cx="2194560" cy="42062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2.2 Whitebox — 107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5349240"/>
            <a:ext cx="2194560" cy="420624"/>
          </a:xfrm>
          <a:prstGeom prst="rect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2.3 Mutation — 81.6%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5349240"/>
            <a:ext cx="2194560" cy="420624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2.4 CLI —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2000</Words>
  <Application>Microsoft Macintosh PowerPoint</Application>
  <PresentationFormat>Widescreen</PresentationFormat>
  <Paragraphs>559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Yash Vinayak Salunke</cp:lastModifiedBy>
  <cp:revision>3</cp:revision>
  <dcterms:created xsi:type="dcterms:W3CDTF">2013-01-27T09:14:16Z</dcterms:created>
  <dcterms:modified xsi:type="dcterms:W3CDTF">2026-04-20T02:06:31Z</dcterms:modified>
  <cp:category/>
</cp:coreProperties>
</file>